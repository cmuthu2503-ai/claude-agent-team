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personal AI agent market has rapidly matured, with clear leaders emerging. We evaluated platforms across capability breadth, integrations, reliability, cost, and privacy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weighted criteria based on business impact. Capabilities and integrations matter most for productivity, while privacy ranks lower for most enterprise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performance gap exists between established platforms and emerging alternatives. OpenClaw scores lowest due to limited capabilities and minimal integration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has moved beyond text-only AI assistants. Users expect comprehensive capability sets within single platforms rather than managing multiple specialized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Platforms with extensive integrations become embedded in user workflows, creating natural switching resistance. This represents OpenClaw's biggest competitive disadvantage.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research revealed minimal information about OpenClaw compared to extensive documentation, user communities, and case studies available for established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analysis strongly favors established platforms. The capability gap and integration disadvantages outweigh potential cost or privacy benefits from newer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represent narrow scenarios where OpenClaw's disadvantages might be acceptable trade-offs, but they apply to minority use cases in most business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next steps focus on hands-on evaluation with real workflows rather than feature comparisons alone. The market evolves rapidly, requiring regular reassessment.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 for specific questions about platform selection criteria, implementation considerations, or organization-specific factors that might influence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AI Agent Platform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OpenClaw vs Market Leaders: Strategic Analysis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landscape overview</a:t>
            </a:r>
          </a:p>
          <a:p>
            <a:pPr>
              <a:defRPr sz="1800"/>
            </a:pPr>
            <a:r>
              <a:t>Evaluation criteria &amp; methodology</a:t>
            </a:r>
          </a:p>
          <a:p>
            <a:pPr>
              <a:defRPr sz="1800"/>
            </a:pPr>
            <a:r>
              <a:t>Platform comparison results</a:t>
            </a:r>
          </a:p>
          <a:p>
            <a:pPr>
              <a:defRPr sz="1800"/>
            </a:pPr>
            <a:r>
              <a:t>Key findings &amp; insights</a:t>
            </a:r>
          </a:p>
          <a:p>
            <a:pPr>
              <a:defRPr sz="1800"/>
            </a:pPr>
            <a:r>
              <a:t>Strategic recommendation</a:t>
            </a:r>
          </a:p>
          <a:p>
            <a:pPr>
              <a:defRPr sz="1800"/>
            </a:pPr>
            <a:r>
              <a:t>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leaders: ChatGPT Plus, Claude Pro, Microsoft Copilot</a:t>
            </a:r>
          </a:p>
          <a:p>
            <a:pPr>
              <a:defRPr sz="1800"/>
            </a:pPr>
            <a:r>
              <a:t>Emerging specialists: Perplexity Pro, OpenClaw</a:t>
            </a:r>
          </a:p>
          <a:p>
            <a:pPr>
              <a:defRPr sz="1800"/>
            </a:pPr>
            <a:r>
              <a:t>Market trend: Multi-modal capabilities now essential</a:t>
            </a:r>
          </a:p>
          <a:p>
            <a:pPr>
              <a:defRPr sz="1800"/>
            </a:pPr>
            <a:r>
              <a:t>Integration ecosystems drive platform stickiness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**High weight:** Capability breadth, Integration ecosystem</a:t>
            </a:r>
          </a:p>
          <a:p>
            <a:pPr>
              <a:defRPr sz="1800"/>
            </a:pPr>
            <a:r>
              <a:t>**Medium weight:** Reliability/uptime, Cost efficiency</a:t>
            </a:r>
          </a:p>
          <a:p>
            <a:pPr>
              <a:defRPr sz="1800"/>
            </a:pPr>
            <a:r>
              <a:t>**Low weight:** Privacy/control</a:t>
            </a:r>
          </a:p>
          <a:p>
            <a:pPr>
              <a:defRPr sz="1800"/>
            </a:pPr>
            <a:r>
              <a:t>Scored 1-10 scale across all criteria</a:t>
            </a:r>
          </a:p>
          <a:p>
            <a:pPr>
              <a:defRPr sz="1800"/>
            </a:pPr>
            <a:r>
              <a:t>Focused on business productivity use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Scores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**ChatGPT Plus:** 7.8/10 (multimodal leader)</a:t>
            </a:r>
          </a:p>
          <a:p>
            <a:pPr>
              <a:defRPr sz="1800"/>
            </a:pPr>
            <a:r>
              <a:t>**Claude Pro:** 7.4/10 (superior reasoning)</a:t>
            </a:r>
          </a:p>
          <a:p>
            <a:pPr>
              <a:defRPr sz="1800"/>
            </a:pPr>
            <a:r>
              <a:t>**Microsoft Copilot:** 7.6/10 (Office integration)</a:t>
            </a:r>
          </a:p>
          <a:p>
            <a:pPr>
              <a:defRPr sz="1800"/>
            </a:pPr>
            <a:r>
              <a:t>**Perplexity Pro:** 6.2/10 (search specialist)</a:t>
            </a:r>
          </a:p>
          <a:p>
            <a:pPr>
              <a:defRPr sz="1800"/>
            </a:pPr>
            <a:r>
              <a:t>**OpenClaw:** 5.2/10 (limited visibility)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*Multi-modal capabilities are now table stakes**</a:t>
            </a:r>
          </a:p>
          <a:p>
            <a:pPr>
              <a:defRPr sz="1800"/>
            </a:pPr>
            <a:r>
              <a:t>Text, image, voice, code integration expected</a:t>
            </a:r>
          </a:p>
          <a:p>
            <a:pPr>
              <a:defRPr sz="1800"/>
            </a:pPr>
            <a:r>
              <a:t>Specialized single-function tools face adoption barriers</a:t>
            </a:r>
          </a:p>
          <a:p>
            <a:pPr>
              <a:defRPr sz="1800"/>
            </a:pPr>
            <a:r>
              <a:t>User preference shifts toward unified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*Integration ecosystem determines stickiness**</a:t>
            </a:r>
          </a:p>
          <a:p>
            <a:pPr>
              <a:defRPr sz="1800"/>
            </a:pPr>
            <a:r>
              <a:t>API access drives workflow automation</a:t>
            </a:r>
          </a:p>
          <a:p>
            <a:pPr>
              <a:defRPr sz="1800"/>
            </a:pPr>
            <a:r>
              <a:t>Mobile apps enable ubiquitous access</a:t>
            </a:r>
          </a:p>
          <a:p>
            <a:pPr>
              <a:defRPr sz="1800"/>
            </a:pPr>
            <a:r>
              <a:t>Third-party connections increase switching costs</a:t>
            </a:r>
          </a:p>
          <a:p>
            <a:pPr>
              <a:defRPr sz="1800"/>
            </a:pPr>
            <a:r>
              <a:t>OpenClaw lacks established ecosystem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*OpenClaw faces visibility challenges**</a:t>
            </a:r>
          </a:p>
          <a:p>
            <a:pPr>
              <a:defRPr sz="1800"/>
            </a:pPr>
            <a:r>
              <a:t>Limited documentation and community presence</a:t>
            </a:r>
          </a:p>
          <a:p>
            <a:pPr>
              <a:defRPr sz="1800"/>
            </a:pPr>
            <a:r>
              <a:t>Minimal mainstream adoption indicators</a:t>
            </a:r>
          </a:p>
          <a:p>
            <a:pPr>
              <a:defRPr sz="1800"/>
            </a:pPr>
            <a:r>
              <a:t>Unproven reliability and support systems</a:t>
            </a:r>
          </a:p>
          <a:p>
            <a:pPr>
              <a:defRPr sz="1800"/>
            </a:pPr>
            <a:r>
              <a:t>Higher risk profile for business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*Choose ChatGPT Plus or Claude Pro over OpenClaw**</a:t>
            </a:r>
          </a:p>
          <a:p>
            <a:pPr>
              <a:defRPr sz="1800"/>
            </a:pPr>
            <a:r>
              <a:t>Superior capability breadth and proven reliability</a:t>
            </a:r>
          </a:p>
          <a:p>
            <a:pPr>
              <a:defRPr sz="1800"/>
            </a:pPr>
            <a:r>
              <a:t>Extensive integration options for workflow automation</a:t>
            </a:r>
          </a:p>
          <a:p>
            <a:pPr>
              <a:defRPr sz="1800"/>
            </a:pPr>
            <a:r>
              <a:t>Established support systems and user communities</a:t>
            </a:r>
          </a:p>
          <a:p>
            <a:pPr>
              <a:defRPr sz="1800"/>
            </a:pPr>
            <a:r>
              <a:t>Lower implementation and operational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 OpenClaw only if:</a:t>
            </a:r>
          </a:p>
          <a:p>
            <a:pPr>
              <a:defRPr sz="1800"/>
            </a:pPr>
            <a:r>
              <a:t>Unique specialized capabilities for specific use cases</a:t>
            </a:r>
          </a:p>
          <a:p>
            <a:pPr>
              <a:defRPr sz="1800"/>
            </a:pPr>
            <a:r>
              <a:t>Significantly lower pricing (&gt;50% cost savings)</a:t>
            </a:r>
          </a:p>
          <a:p>
            <a:pPr>
              <a:defRPr sz="1800"/>
            </a:pPr>
            <a:r>
              <a:t>Data privacy concerns about major tech companies are paramount</a:t>
            </a:r>
          </a:p>
          <a:p>
            <a:pPr>
              <a:defRPr sz="1800"/>
            </a:pPr>
            <a:r>
              <a:t>Regulatory requirements favor smaller providers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*Immediate (1 week):** Trial top 2-3 platforms with actual use cases</a:t>
            </a:r>
          </a:p>
          <a:p>
            <a:pPr>
              <a:defRPr sz="1800"/>
            </a:pPr>
            <a:r>
              <a:t>*30 days:** Audit workflow integration requirements</a:t>
            </a:r>
          </a:p>
          <a:p>
            <a:pPr>
              <a:defRPr sz="1800"/>
            </a:pPr>
            <a:r>
              <a:t>*Ongoing:** Quarterly market reassessment</a:t>
            </a:r>
          </a:p>
          <a:p>
            <a:pPr>
              <a:defRPr sz="1800"/>
            </a:pPr>
            <a:r>
              <a:t>*Verify independently:** OpenClaw current capabilities and pricing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Platform-specific questions about your use cases?</a:t>
            </a:r>
          </a:p>
          <a:p>
            <a:pPr>
              <a:defRPr sz="1800"/>
            </a:pPr>
            <a:r>
              <a:t>Integration requirements for your workflows?</a:t>
            </a:r>
          </a:p>
          <a:p>
            <a:pPr>
              <a:defRPr sz="1800"/>
            </a:pPr>
            <a:r>
              <a:t>Timeline for implementation decision?</a:t>
            </a:r>
          </a:p>
          <a:p>
            <a:pPr>
              <a:defRPr sz="1800"/>
            </a:pPr>
            <a:r>
              <a:t>Risk tolerance for emerging platforms?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