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move from the "why" to a concrete recommendation and a week-by-week plan you can execute starting Monday.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diagnosis is consistent across every 2026 report we reviewed. Failure is rarely about the tool — it's about structure and ownership. And there's a new twist: AI agents are now the second-biggest consumer of your KB after humans.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biggest shift since 2024. If you're investing in an internal AI agent or Copilot rollout, the KB is now infrastructure for that agent. Structure quality propagates directly to answer quality.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four serious contenders. Google Drive folders and GitHub Wikis exist but break down quickly past 20 docs or for non-engineers.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Confluence is dramatically cheaper because Rovo AI is bundled, not an add-on. This is the biggest pricing shift of 2026 and the main reason Confluence wins our weighted score.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Scoring weights ease-of-use, cost, AI readiness, collaboration, dev integration, search, and lock-in risk. Confluence and Notion are close — pick based on ecosystem, not score.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decision tree is genuinely this simple. Don't overthink the platform — what matters is what you do *after* you pick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highest-leverage decision you'll make. Categories like "Onboarding," "Deploying," "Debugging" — not "Engineering," "Marketing," "Ops." The latter feels logical but kills adoption.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ownership = no ownership. If you remember one thing from this deck: name a curator before writing the first article. Put their review on the calendar before launch.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Resist the urge to launch with 80 thin articles. 10–20 high-quality articles answering your top questions builds trust. Trust drives adoption. Adoption drives contribution. Then it grows organically.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action items for this week — appoint the curator, and check whether you already have Confluence via Jira or SharePoint via M365. Avoiding duplicate procurement is the most common avoidable cost.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Title</a:t>
            </a:r>
          </a:p>
        </p:txBody>
      </p:sp>
      <p:sp>
        <p:nvSpPr>
          <p:cNvPr id="3" name="Content Placeholder 2"/>
          <p:cNvSpPr>
            <a:spLocks noGrp="1"/>
          </p:cNvSpPr>
          <p:nvPr>
            <p:ph idx="1"/>
          </p:nvPr>
        </p:nvSpPr>
        <p:spPr/>
        <p:txBody>
          <a:bodyPr/>
          <a:lstStyle/>
          <a:p>
            <a:r>
              <a:t>Project Knowledge Base Setup in 2026</a:t>
            </a:r>
          </a:p>
          <a:p>
            <a:pPr>
              <a:defRPr sz="1800"/>
            </a:pPr>
            <a:r>
              <a:t>Subtitle: Task-organized, AI-ready, and owned — a practical playbook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t>Why most KBs fail</a:t>
            </a:r>
          </a:p>
          <a:p>
            <a:pPr>
              <a:defRPr sz="1800"/>
            </a:pPr>
            <a:r>
              <a:t>What's changed in 2026 (AI consumers)</a:t>
            </a:r>
          </a:p>
          <a:p>
            <a:pPr>
              <a:defRPr sz="1800"/>
            </a:pPr>
            <a:r>
              <a:t>Platform comparison: Notion vs Confluence vs Obsidian vs SharePoint</a:t>
            </a:r>
          </a:p>
          <a:p>
            <a:pPr>
              <a:defRPr sz="1800"/>
            </a:pPr>
            <a:r>
              <a:t>Recommended architecture &amp; ownership model</a:t>
            </a:r>
          </a:p>
          <a:p>
            <a:pPr>
              <a:defRPr sz="1800"/>
            </a:pPr>
            <a:r>
              <a:t>3-week rollout plan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a:t>
            </a:r>
          </a:p>
        </p:txBody>
      </p:sp>
      <p:sp>
        <p:nvSpPr>
          <p:cNvPr id="3" name="Content Placeholder 2"/>
          <p:cNvSpPr>
            <a:spLocks noGrp="1"/>
          </p:cNvSpPr>
          <p:nvPr>
            <p:ph idx="1"/>
          </p:nvPr>
        </p:nvSpPr>
        <p:spPr/>
        <p:txBody>
          <a:bodyPr/>
          <a:lstStyle/>
          <a:p>
            <a:r>
              <a:t>Most KBs decay within 12 months</a:t>
            </a:r>
          </a:p>
          <a:p>
            <a:pPr>
              <a:defRPr sz="1800"/>
            </a:pPr>
            <a:r>
              <a:t>Content goes stale, search breaks, trust collapses</a:t>
            </a:r>
          </a:p>
          <a:p>
            <a:pPr>
              <a:defRPr sz="1800"/>
            </a:pPr>
            <a:r>
              <a:t>Teams that mirror org charts in KB see adoption collapse (Stravito 2026)</a:t>
            </a:r>
          </a:p>
          <a:p>
            <a:pPr>
              <a:defRPr sz="1800"/>
            </a:pPr>
            <a:r>
              <a:t>AI agents now read the KB — bad structure = hallucinations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Changed in 2026</a:t>
            </a:r>
          </a:p>
        </p:txBody>
      </p:sp>
      <p:sp>
        <p:nvSpPr>
          <p:cNvPr id="3" name="Content Placeholder 2"/>
          <p:cNvSpPr>
            <a:spLocks noGrp="1"/>
          </p:cNvSpPr>
          <p:nvPr>
            <p:ph idx="1"/>
          </p:nvPr>
        </p:nvSpPr>
        <p:spPr/>
        <p:txBody>
          <a:bodyPr/>
          <a:lstStyle/>
          <a:p>
            <a:r>
              <a:t>KBs are no longer just for humans — Copilot, Claude, Glean read them too</a:t>
            </a:r>
          </a:p>
          <a:p>
            <a:pPr>
              <a:defRPr sz="1800"/>
            </a:pPr>
            <a:r>
              <a:t>"AI-ready" = atomic articles, metadata, clear chunking</a:t>
            </a:r>
          </a:p>
          <a:p>
            <a:pPr>
              <a:defRPr sz="1800"/>
            </a:pPr>
            <a:r>
              <a:t>RAG quality is bottlenecked by KB structure, not model size</a:t>
            </a:r>
          </a:p>
          <a:p>
            <a:pPr>
              <a:defRPr sz="1800"/>
            </a:pPr>
            <a:r>
              <a:t>Unstructured prose is the #1 cause of agent hallucinations (Rezolve.ai)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Platform Landscape</a:t>
            </a:r>
          </a:p>
        </p:txBody>
      </p:sp>
      <p:sp>
        <p:nvSpPr>
          <p:cNvPr id="3" name="Content Placeholder 2"/>
          <p:cNvSpPr>
            <a:spLocks noGrp="1"/>
          </p:cNvSpPr>
          <p:nvPr>
            <p:ph idx="1"/>
          </p:nvPr>
        </p:nvSpPr>
        <p:spPr/>
        <p:txBody>
          <a:bodyPr/>
          <a:lstStyle/>
          <a:p>
            <a:r>
              <a:t>Notion — 100M users, best editor, premium price</a:t>
            </a:r>
          </a:p>
          <a:p>
            <a:pPr>
              <a:defRPr sz="1800"/>
            </a:pPr>
            <a:r>
              <a:t>Confluence — Atlassian-native, Rovo AI bundled, best price/value</a:t>
            </a:r>
          </a:p>
          <a:p>
            <a:pPr>
              <a:defRPr sz="1800"/>
            </a:pPr>
            <a:r>
              <a:t>Obsidian — free, local, Markdown — solo/privacy use</a:t>
            </a:r>
          </a:p>
          <a:p>
            <a:pPr>
              <a:defRPr sz="1800"/>
            </a:pPr>
            <a:r>
              <a:t>SharePoint — default if you already pay for M365 + Copilot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Cost Reality (20-person team, annual)</a:t>
            </a:r>
          </a:p>
        </p:txBody>
      </p:sp>
      <p:sp>
        <p:nvSpPr>
          <p:cNvPr id="3" name="Content Placeholder 2"/>
          <p:cNvSpPr>
            <a:spLocks noGrp="1"/>
          </p:cNvSpPr>
          <p:nvPr>
            <p:ph idx="1"/>
          </p:nvPr>
        </p:nvSpPr>
        <p:spPr/>
        <p:txBody>
          <a:bodyPr/>
          <a:lstStyle/>
          <a:p>
            <a:r>
              <a:t>Notion Business + AI: ~$4,800</a:t>
            </a:r>
          </a:p>
          <a:p>
            <a:pPr>
              <a:defRPr sz="1800"/>
            </a:pPr>
            <a:r>
              <a:t>Confluence Standard + Rovo AI: ~$1,300</a:t>
            </a:r>
          </a:p>
          <a:p>
            <a:pPr>
              <a:defRPr sz="1800"/>
            </a:pPr>
            <a:r>
              <a:t>Obsidian + Sync: ~$1,000</a:t>
            </a:r>
          </a:p>
          <a:p>
            <a:pPr>
              <a:defRPr sz="1800"/>
            </a:pPr>
            <a:r>
              <a:t>SharePoint: bundled in M365 (effectively $0 incremental)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Weighted Comparison</a:t>
            </a:r>
          </a:p>
        </p:txBody>
      </p:sp>
      <p:sp>
        <p:nvSpPr>
          <p:cNvPr id="3" name="Content Placeholder 2"/>
          <p:cNvSpPr>
            <a:spLocks noGrp="1"/>
          </p:cNvSpPr>
          <p:nvPr>
            <p:ph idx="1"/>
          </p:nvPr>
        </p:nvSpPr>
        <p:spPr/>
        <p:txBody>
          <a:bodyPr/>
          <a:lstStyle/>
          <a:p>
            <a:r>
              <a:t>Confluence: 8.3/10 — best for Atlassian shops</a:t>
            </a:r>
          </a:p>
          <a:p>
            <a:pPr>
              <a:defRPr sz="1800"/>
            </a:pPr>
            <a:r>
              <a:t>Notion: 7.8/10 — best for cross-functional teams</a:t>
            </a:r>
          </a:p>
          <a:p>
            <a:pPr>
              <a:defRPr sz="1800"/>
            </a:pPr>
            <a:r>
              <a:t>SharePoint: 7.0/10 — best if already M365</a:t>
            </a:r>
          </a:p>
          <a:p>
            <a:pPr>
              <a:defRPr sz="1800"/>
            </a:pPr>
            <a:r>
              <a:t>Obsidian: 6.3/10 — best for solo/privacy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a:t>
            </a:r>
          </a:p>
        </p:txBody>
      </p:sp>
      <p:sp>
        <p:nvSpPr>
          <p:cNvPr id="3" name="Content Placeholder 2"/>
          <p:cNvSpPr>
            <a:spLocks noGrp="1"/>
          </p:cNvSpPr>
          <p:nvPr>
            <p:ph idx="1"/>
          </p:nvPr>
        </p:nvSpPr>
        <p:spPr/>
        <p:txBody>
          <a:bodyPr/>
          <a:lstStyle/>
          <a:p>
            <a:r>
              <a:t>Atlassian/Jira shop → Confluence</a:t>
            </a:r>
          </a:p>
          <a:p>
            <a:pPr>
              <a:defRPr sz="1800"/>
            </a:pPr>
            <a:r>
              <a:t>Cross-functional or non-technical team → Notion</a:t>
            </a:r>
          </a:p>
          <a:p>
            <a:pPr>
              <a:defRPr sz="1800"/>
            </a:pPr>
            <a:r>
              <a:t>Solo/privacy → Obsidian</a:t>
            </a:r>
          </a:p>
          <a:p>
            <a:pPr>
              <a:defRPr sz="1800"/>
            </a:pPr>
            <a:r>
              <a:t>M365 + Copilot shop → SharePoint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Information Architecture</a:t>
            </a:r>
          </a:p>
        </p:txBody>
      </p:sp>
      <p:sp>
        <p:nvSpPr>
          <p:cNvPr id="3" name="Content Placeholder 2"/>
          <p:cNvSpPr>
            <a:spLocks noGrp="1"/>
          </p:cNvSpPr>
          <p:nvPr>
            <p:ph idx="1"/>
          </p:nvPr>
        </p:nvSpPr>
        <p:spPr/>
        <p:txBody>
          <a:bodyPr/>
          <a:lstStyle/>
          <a:p>
            <a:r>
              <a:t>5–8 top-level categories — organized by TASK, not team</a:t>
            </a:r>
          </a:p>
          <a:p>
            <a:pPr>
              <a:defRPr sz="1800"/>
            </a:pPr>
            <a:r>
              <a:t>Max 3 levels deep — enforce the 3-click rule</a:t>
            </a:r>
          </a:p>
          <a:p>
            <a:pPr>
              <a:defRPr sz="1800"/>
            </a:pPr>
            <a:r>
              <a:t>Article template: title-as-question, prereqs, steps, owner, last-reviewed</a:t>
            </a:r>
          </a:p>
          <a:p>
            <a:pPr>
              <a:defRPr sz="1800"/>
            </a:pPr>
            <a:r>
              <a:t>One r/msp team cut duplicate docs by 40% by switching to task-based IA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Governance That Survives</a:t>
            </a:r>
          </a:p>
        </p:txBody>
      </p:sp>
      <p:sp>
        <p:nvSpPr>
          <p:cNvPr id="3" name="Content Placeholder 2"/>
          <p:cNvSpPr>
            <a:spLocks noGrp="1"/>
          </p:cNvSpPr>
          <p:nvPr>
            <p:ph idx="1"/>
          </p:nvPr>
        </p:nvSpPr>
        <p:spPr/>
        <p:txBody>
          <a:bodyPr/>
          <a:lstStyle/>
          <a:p>
            <a:r>
              <a:t>ONE named curator per category — not a committee</a:t>
            </a:r>
          </a:p>
          <a:p>
            <a:pPr>
              <a:defRPr sz="1800"/>
            </a:pPr>
            <a:r>
              <a:t>Quarterly review on the calendar — not "as needed"</a:t>
            </a:r>
          </a:p>
          <a:p>
            <a:pPr>
              <a:defRPr sz="1800"/>
            </a:pPr>
            <a:r>
              <a:t>Quarterly KPIs: % articles reviewed, stale-article count, Slack-question deflection</a:t>
            </a:r>
          </a:p>
          <a:p>
            <a:pPr>
              <a:defRPr sz="1800"/>
            </a:pPr>
            <a:r>
              <a:t>KBs without a named owner decay within 6 months (Bloomfire)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Three-Week Rollout</a:t>
            </a:r>
          </a:p>
        </p:txBody>
      </p:sp>
      <p:sp>
        <p:nvSpPr>
          <p:cNvPr id="3" name="Content Placeholder 2"/>
          <p:cNvSpPr>
            <a:spLocks noGrp="1"/>
          </p:cNvSpPr>
          <p:nvPr>
            <p:ph idx="1"/>
          </p:nvPr>
        </p:nvSpPr>
        <p:spPr/>
        <p:txBody>
          <a:bodyPr/>
          <a:lstStyle/>
          <a:p>
            <a:r>
              <a:t>Week 1: Define scope, audit existing scattered docs</a:t>
            </a:r>
          </a:p>
          <a:p>
            <a:pPr>
              <a:defRPr sz="1800"/>
            </a:pPr>
            <a:r>
              <a:t>Week 2: Pick platform, set up IA, start seed articles</a:t>
            </a:r>
          </a:p>
          <a:p>
            <a:pPr>
              <a:defRPr sz="1800"/>
            </a:pPr>
            <a:r>
              <a:t>Week 3: Finish 10–20 seed articles, launch with internal "marketing"</a:t>
            </a:r>
          </a:p>
          <a:p>
            <a:pPr>
              <a:defRPr sz="1800"/>
            </a:pPr>
            <a:r>
              <a:t>Ongoing: Quarterly curator review, gap-fill from Slack questions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 &amp; Next Steps</a:t>
            </a:r>
          </a:p>
        </p:txBody>
      </p:sp>
      <p:sp>
        <p:nvSpPr>
          <p:cNvPr id="3" name="Content Placeholder 2"/>
          <p:cNvSpPr>
            <a:spLocks noGrp="1"/>
          </p:cNvSpPr>
          <p:nvPr>
            <p:ph idx="1"/>
          </p:nvPr>
        </p:nvSpPr>
        <p:spPr/>
        <p:txBody>
          <a:bodyPr/>
          <a:lstStyle/>
          <a:p>
            <a:r>
              <a:t>Structure &gt; Tool — invest in IA first</a:t>
            </a:r>
          </a:p>
          <a:p>
            <a:pPr>
              <a:defRPr sz="1800"/>
            </a:pPr>
            <a:r>
              <a:t>Name ONE curator before launch</a:t>
            </a:r>
          </a:p>
          <a:p>
            <a:pPr>
              <a:defRPr sz="1800"/>
            </a:pPr>
            <a:r>
              <a:t>Atlassian shop? Confluence. Else? Notion.</a:t>
            </a:r>
          </a:p>
          <a:p>
            <a:pPr>
              <a:defRPr sz="1800"/>
            </a:pPr>
            <a:r>
              <a:t>Make the KB AI-ready: atomic, tagged, machine-readable</a:t>
            </a:r>
          </a:p>
          <a:p>
            <a:pPr>
              <a:defRPr sz="1800"/>
            </a:pPr>
            <a:r>
              <a:t>Action: appoint curator + confirm existing licenses this week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